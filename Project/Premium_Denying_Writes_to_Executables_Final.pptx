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223"/>
        </a:solidFill>
        <a:effectLst/>
      </p:bgPr>
    </p:bg>
    <p:spTree>
      <p:nvGrpSpPr>
        <p:cNvPr id="1" name=""/>
        <p:cNvGrpSpPr/>
        <p:nvPr/>
      </p:nvGrpSpPr>
      <p:grpSpPr>
        <a:xfrm>
          <a:off x="0" y="0"/>
          <a:ext cx="0" cy="0"/>
          <a:chOff x="0" y="0"/>
          <a:chExt cx="0" cy="0"/>
        </a:xfrm>
      </p:grpSpPr>
      <p:sp>
        <p:nvSpPr>
          <p:cNvPr id="2" name="Oval 1"/>
          <p:cNvSpPr/>
          <p:nvPr/>
        </p:nvSpPr>
        <p:spPr>
          <a:xfrm>
            <a:off x="10698480" y="-457200"/>
            <a:ext cx="2194560" cy="2194560"/>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669280"/>
            <a:ext cx="1920240" cy="192024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486400"/>
            <a:ext cx="1554480" cy="15544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entagon 4"/>
          <p:cNvSpPr/>
          <p:nvPr/>
        </p:nvSpPr>
        <p:spPr>
          <a:xfrm>
            <a:off x="8412480" y="1234440"/>
            <a:ext cx="2743200" cy="3017520"/>
          </a:xfrm>
          <a:prstGeom prst="homePlate">
            <a:avLst/>
          </a:prstGeom>
          <a:solidFill>
            <a:srgbClr val="0F344B"/>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0"/>
            </a:pPr>
            <a:r>
              <a:t>🔒</a:t>
            </a:r>
          </a:p>
        </p:txBody>
      </p:sp>
      <p:sp>
        <p:nvSpPr>
          <p:cNvPr id="6" name="TextBox 5"/>
          <p:cNvSpPr txBox="1"/>
          <p:nvPr/>
        </p:nvSpPr>
        <p:spPr>
          <a:xfrm>
            <a:off x="1036320" y="1143000"/>
            <a:ext cx="7198061" cy="3472746"/>
          </a:xfrm>
          <a:prstGeom prst="rect">
            <a:avLst/>
          </a:prstGeom>
          <a:noFill/>
        </p:spPr>
        <p:txBody>
          <a:bodyPr wrap="none">
            <a:spAutoFit/>
          </a:bodyPr>
          <a:lstStyle/>
          <a:p>
            <a:pPr>
              <a:defRPr sz="4400" b="1">
                <a:solidFill>
                  <a:srgbClr val="F8FAFF"/>
                </a:solidFill>
              </a:defRPr>
            </a:pPr>
            <a:r>
              <a:rPr dirty="0"/>
              <a:t>DENYING WRITES</a:t>
            </a:r>
            <a:br>
              <a:rPr dirty="0"/>
            </a:br>
            <a:r>
              <a:rPr dirty="0"/>
              <a:t>TO EXECUTABLES</a:t>
            </a:r>
          </a:p>
          <a:p>
            <a:pPr>
              <a:spcBef>
                <a:spcPts val="1400"/>
              </a:spcBef>
              <a:defRPr sz="2200">
                <a:solidFill>
                  <a:srgbClr val="00D2FF"/>
                </a:solidFill>
              </a:defRPr>
            </a:pPr>
            <a:r>
              <a:rPr dirty="0"/>
              <a:t>Protecting Linux executable files from unwanted modification</a:t>
            </a:r>
          </a:p>
          <a:p>
            <a:br>
              <a:rPr dirty="0"/>
            </a:br>
            <a:r>
              <a:rPr sz="2000" dirty="0">
                <a:highlight>
                  <a:srgbClr val="008080"/>
                </a:highlight>
              </a:rPr>
              <a:t>OPERATING SYSTEMS &amp; SYSTEMS PROGRAMMING</a:t>
            </a:r>
            <a:br>
              <a:rPr sz="2000" dirty="0">
                <a:highlight>
                  <a:srgbClr val="008080"/>
                </a:highlight>
              </a:rPr>
            </a:br>
            <a:r>
              <a:rPr sz="2000" dirty="0">
                <a:highlight>
                  <a:srgbClr val="008080"/>
                </a:highlight>
              </a:rPr>
              <a:t>Section 1 • Team </a:t>
            </a:r>
            <a:r>
              <a:rPr lang="en-US" sz="2000" dirty="0">
                <a:highlight>
                  <a:srgbClr val="008080"/>
                </a:highlight>
              </a:rPr>
              <a:t>6</a:t>
            </a:r>
            <a:br>
              <a:rPr sz="2000" dirty="0">
                <a:highlight>
                  <a:srgbClr val="008080"/>
                </a:highlight>
              </a:rPr>
            </a:br>
            <a:r>
              <a:rPr sz="2000" dirty="0">
                <a:highlight>
                  <a:srgbClr val="008080"/>
                </a:highlight>
              </a:rPr>
              <a:t>P. Revanth </a:t>
            </a:r>
            <a:r>
              <a:rPr lang="en-US" sz="2000" dirty="0">
                <a:highlight>
                  <a:srgbClr val="008080"/>
                </a:highlight>
              </a:rPr>
              <a:t>-2520030292</a:t>
            </a:r>
          </a:p>
          <a:p>
            <a:r>
              <a:rPr sz="2000" dirty="0">
                <a:highlight>
                  <a:srgbClr val="008080"/>
                </a:highlight>
              </a:rPr>
              <a:t>E. Akhil</a:t>
            </a:r>
            <a:r>
              <a:rPr lang="en-US" sz="2000" dirty="0">
                <a:highlight>
                  <a:srgbClr val="008080"/>
                </a:highlight>
              </a:rPr>
              <a:t>-2520030507</a:t>
            </a:r>
            <a:endParaRPr sz="2000" dirty="0">
              <a:highlight>
                <a:srgbClr val="00808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223"/>
        </a:solidFill>
        <a:effectLst/>
      </p:bgPr>
    </p:bg>
    <p:spTree>
      <p:nvGrpSpPr>
        <p:cNvPr id="1" name=""/>
        <p:cNvGrpSpPr/>
        <p:nvPr/>
      </p:nvGrpSpPr>
      <p:grpSpPr>
        <a:xfrm>
          <a:off x="0" y="0"/>
          <a:ext cx="0" cy="0"/>
          <a:chOff x="0" y="0"/>
          <a:chExt cx="0" cy="0"/>
        </a:xfrm>
      </p:grpSpPr>
      <p:sp>
        <p:nvSpPr>
          <p:cNvPr id="2" name="Oval 1"/>
          <p:cNvSpPr/>
          <p:nvPr/>
        </p:nvSpPr>
        <p:spPr>
          <a:xfrm>
            <a:off x="10698480" y="-457200"/>
            <a:ext cx="2194560" cy="2194560"/>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669280"/>
            <a:ext cx="1920240" cy="192024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486400"/>
            <a:ext cx="1554480" cy="15544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789920" cy="731520"/>
          </a:xfrm>
          <a:prstGeom prst="rect">
            <a:avLst/>
          </a:prstGeom>
          <a:noFill/>
        </p:spPr>
        <p:txBody>
          <a:bodyPr wrap="none">
            <a:spAutoFit/>
          </a:bodyPr>
          <a:lstStyle/>
          <a:p>
            <a:pPr>
              <a:defRPr sz="3000" b="1">
                <a:solidFill>
                  <a:srgbClr val="F8FAFF"/>
                </a:solidFill>
              </a:defRPr>
            </a:pPr>
            <a:r>
              <a:t>PROJECT ABSTRACT</a:t>
            </a:r>
          </a:p>
          <a:p>
            <a:pPr>
              <a:defRPr sz="1500">
                <a:solidFill>
                  <a:srgbClr val="00D2FF"/>
                </a:solidFill>
              </a:defRPr>
            </a:pPr>
            <a:r>
              <a:t>The main idea of our project</a:t>
            </a:r>
          </a:p>
        </p:txBody>
      </p:sp>
      <p:sp>
        <p:nvSpPr>
          <p:cNvPr id="6" name="Rectangle 5"/>
          <p:cNvSpPr/>
          <p:nvPr/>
        </p:nvSpPr>
        <p:spPr>
          <a:xfrm>
            <a:off x="685800" y="1207008"/>
            <a:ext cx="2011680" cy="54864"/>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600200"/>
            <a:ext cx="10698480" cy="4389120"/>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spcAft>
                <a:spcPts val="1000"/>
              </a:spcAft>
              <a:defRPr sz="2200">
                <a:solidFill>
                  <a:srgbClr val="F8FAFF"/>
                </a:solidFill>
              </a:defRPr>
            </a:pPr>
            <a:r>
              <a:rPr lang="en-IN" sz="2200" b="1" dirty="0">
                <a:solidFill>
                  <a:srgbClr val="F8FAFF"/>
                </a:solidFill>
              </a:rPr>
              <a:t>Denying Writes to Executables</a:t>
            </a:r>
            <a:r>
              <a:rPr lang="en-IN" sz="2200" dirty="0">
                <a:solidFill>
                  <a:srgbClr val="F8FAFF"/>
                </a:solidFill>
              </a:rPr>
              <a:t> is a Linux-based system programming project that focuses on protecting executable files from unwanted modifications. The system identifies executable files and checks their read, write, and execute permissions using Linux system calls such as stat(). It then uses </a:t>
            </a:r>
            <a:r>
              <a:rPr lang="en-IN" sz="2200" dirty="0" err="1">
                <a:solidFill>
                  <a:srgbClr val="F8FAFF"/>
                </a:solidFill>
              </a:rPr>
              <a:t>chmod</a:t>
            </a:r>
            <a:r>
              <a:rPr lang="en-IN" sz="2200" dirty="0">
                <a:solidFill>
                  <a:srgbClr val="F8FAFF"/>
                </a:solidFill>
              </a:rPr>
              <a:t>() to restrict write access and open() and write() to test whether the file can be modified. The system displays the file permissions and the result of the write operation. The project is implemented using C programming in a Linux environment and helps us understand </a:t>
            </a:r>
            <a:r>
              <a:rPr lang="en-IN" sz="2200" b="1" dirty="0">
                <a:solidFill>
                  <a:srgbClr val="F8FAFF"/>
                </a:solidFill>
              </a:rPr>
              <a:t>file permissions, file protection, access control, file descriptors, and Linux/POSIX system calls</a:t>
            </a:r>
            <a:r>
              <a:rPr lang="en-IN" sz="2200" dirty="0">
                <a:solidFill>
                  <a:srgbClr val="F8FAFF"/>
                </a:solidFill>
              </a:rPr>
              <a:t>. </a:t>
            </a:r>
            <a:endParaRPr dirty="0"/>
          </a:p>
        </p:txBody>
      </p:sp>
      <p:sp>
        <p:nvSpPr>
          <p:cNvPr id="8" name="TextBox 7"/>
          <p:cNvSpPr txBox="1"/>
          <p:nvPr/>
        </p:nvSpPr>
        <p:spPr>
          <a:xfrm>
            <a:off x="10789920" y="6400800"/>
            <a:ext cx="640080" cy="274320"/>
          </a:xfrm>
          <a:prstGeom prst="rect">
            <a:avLst/>
          </a:prstGeom>
          <a:noFill/>
        </p:spPr>
        <p:txBody>
          <a:bodyPr wrap="none">
            <a:spAutoFit/>
          </a:bodyPr>
          <a:lstStyle/>
          <a:p>
            <a:pPr algn="r">
              <a:defRPr sz="1100">
                <a:solidFill>
                  <a:srgbClr val="B9CADC"/>
                </a:solidFill>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223"/>
        </a:solidFill>
        <a:effectLst/>
      </p:bgPr>
    </p:bg>
    <p:spTree>
      <p:nvGrpSpPr>
        <p:cNvPr id="1" name=""/>
        <p:cNvGrpSpPr/>
        <p:nvPr/>
      </p:nvGrpSpPr>
      <p:grpSpPr>
        <a:xfrm>
          <a:off x="0" y="0"/>
          <a:ext cx="0" cy="0"/>
          <a:chOff x="0" y="0"/>
          <a:chExt cx="0" cy="0"/>
        </a:xfrm>
      </p:grpSpPr>
      <p:sp>
        <p:nvSpPr>
          <p:cNvPr id="2" name="Oval 1"/>
          <p:cNvSpPr/>
          <p:nvPr/>
        </p:nvSpPr>
        <p:spPr>
          <a:xfrm>
            <a:off x="10698480" y="-457200"/>
            <a:ext cx="2194560" cy="2194560"/>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669280"/>
            <a:ext cx="1920240" cy="192024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486400"/>
            <a:ext cx="1554480" cy="15544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789920" cy="731520"/>
          </a:xfrm>
          <a:prstGeom prst="rect">
            <a:avLst/>
          </a:prstGeom>
          <a:noFill/>
        </p:spPr>
        <p:txBody>
          <a:bodyPr wrap="none">
            <a:spAutoFit/>
          </a:bodyPr>
          <a:lstStyle/>
          <a:p>
            <a:pPr>
              <a:defRPr sz="3000" b="1">
                <a:solidFill>
                  <a:srgbClr val="F8FAFF"/>
                </a:solidFill>
              </a:defRPr>
            </a:pPr>
            <a:r>
              <a:rPr dirty="0"/>
              <a:t>PROBLEM STATEMENT</a:t>
            </a:r>
          </a:p>
          <a:p>
            <a:pPr>
              <a:defRPr sz="1500">
                <a:solidFill>
                  <a:srgbClr val="00D2FF"/>
                </a:solidFill>
              </a:defRPr>
            </a:pPr>
            <a:r>
              <a:rPr dirty="0"/>
              <a:t>Why is this project important?</a:t>
            </a:r>
          </a:p>
        </p:txBody>
      </p:sp>
      <p:sp>
        <p:nvSpPr>
          <p:cNvPr id="6" name="Rectangle 5"/>
          <p:cNvSpPr/>
          <p:nvPr/>
        </p:nvSpPr>
        <p:spPr>
          <a:xfrm>
            <a:off x="685800" y="1207008"/>
            <a:ext cx="2011680" cy="54864"/>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645920"/>
            <a:ext cx="3429000" cy="4114800"/>
          </a:xfrm>
          <a:prstGeom prst="roundRect">
            <a:avLst/>
          </a:prstGeom>
          <a:solidFill>
            <a:srgbClr val="12243A"/>
          </a:solidFill>
          <a:ln>
            <a:solidFill>
              <a:srgbClr val="915F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915FFF"/>
                </a:solidFill>
              </a:defRPr>
            </a:pPr>
            <a:r>
              <a:t>⚠️ THE RISK</a:t>
            </a:r>
          </a:p>
          <a:p>
            <a:pPr>
              <a:spcAft>
                <a:spcPts val="1000"/>
              </a:spcAft>
              <a:defRPr sz="2000">
                <a:solidFill>
                  <a:srgbClr val="F8FAFF"/>
                </a:solidFill>
              </a:defRPr>
            </a:pPr>
            <a:r>
              <a:t>Executable files can be changed accidentally.</a:t>
            </a:r>
          </a:p>
          <a:p>
            <a:pPr>
              <a:spcAft>
                <a:spcPts val="1000"/>
              </a:spcAft>
              <a:defRPr sz="2000">
                <a:solidFill>
                  <a:srgbClr val="F8FAFF"/>
                </a:solidFill>
              </a:defRPr>
            </a:pPr>
            <a:r>
              <a:t>Unwanted changes may affect how a program works.</a:t>
            </a:r>
          </a:p>
          <a:p>
            <a:pPr>
              <a:spcAft>
                <a:spcPts val="1000"/>
              </a:spcAft>
              <a:defRPr sz="2000">
                <a:solidFill>
                  <a:srgbClr val="F8FAFF"/>
                </a:solidFill>
              </a:defRPr>
            </a:pPr>
            <a:r>
              <a:t>Important program files need protection.</a:t>
            </a:r>
          </a:p>
        </p:txBody>
      </p:sp>
      <p:sp>
        <p:nvSpPr>
          <p:cNvPr id="8" name="Rounded Rectangle 7"/>
          <p:cNvSpPr/>
          <p:nvPr/>
        </p:nvSpPr>
        <p:spPr>
          <a:xfrm>
            <a:off x="4389120" y="1645920"/>
            <a:ext cx="3429000" cy="4114800"/>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00D2FF"/>
                </a:solidFill>
              </a:defRPr>
            </a:pPr>
            <a:r>
              <a:t>💡 THE NEED</a:t>
            </a:r>
          </a:p>
          <a:p>
            <a:pPr>
              <a:spcAft>
                <a:spcPts val="1000"/>
              </a:spcAft>
              <a:defRPr sz="2000">
                <a:solidFill>
                  <a:srgbClr val="F8FAFF"/>
                </a:solidFill>
              </a:defRPr>
            </a:pPr>
            <a:r>
              <a:t>We need to understand how Linux controls file access.</a:t>
            </a:r>
          </a:p>
          <a:p>
            <a:pPr>
              <a:spcAft>
                <a:spcPts val="1000"/>
              </a:spcAft>
              <a:defRPr sz="2000">
                <a:solidFill>
                  <a:srgbClr val="F8FAFF"/>
                </a:solidFill>
              </a:defRPr>
            </a:pPr>
            <a:r>
              <a:t>Permissions can help restrict unwanted modifications.</a:t>
            </a:r>
          </a:p>
        </p:txBody>
      </p:sp>
      <p:sp>
        <p:nvSpPr>
          <p:cNvPr id="9" name="Rounded Rectangle 8"/>
          <p:cNvSpPr/>
          <p:nvPr/>
        </p:nvSpPr>
        <p:spPr>
          <a:xfrm>
            <a:off x="8046720" y="1645920"/>
            <a:ext cx="3429000" cy="4114800"/>
          </a:xfrm>
          <a:prstGeom prst="roundRect">
            <a:avLst/>
          </a:prstGeom>
          <a:solidFill>
            <a:srgbClr val="12243A"/>
          </a:solidFill>
          <a:ln>
            <a:solidFill>
              <a:srgbClr val="37EBA5"/>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37EBA5"/>
                </a:solidFill>
              </a:defRPr>
            </a:pPr>
            <a:r>
              <a:t>🎯 OUR SOLUTION</a:t>
            </a:r>
          </a:p>
          <a:p>
            <a:pPr>
              <a:spcAft>
                <a:spcPts val="1000"/>
              </a:spcAft>
              <a:defRPr sz="2000">
                <a:solidFill>
                  <a:srgbClr val="F8FAFF"/>
                </a:solidFill>
              </a:defRPr>
            </a:pPr>
            <a:r>
              <a:t>Check executable files.</a:t>
            </a:r>
          </a:p>
          <a:p>
            <a:pPr>
              <a:spcAft>
                <a:spcPts val="1000"/>
              </a:spcAft>
              <a:defRPr sz="2000">
                <a:solidFill>
                  <a:srgbClr val="F8FAFF"/>
                </a:solidFill>
              </a:defRPr>
            </a:pPr>
            <a:r>
              <a:t>Inspect permissions.</a:t>
            </a:r>
          </a:p>
          <a:p>
            <a:pPr>
              <a:spcAft>
                <a:spcPts val="1000"/>
              </a:spcAft>
              <a:defRPr sz="2000">
                <a:solidFill>
                  <a:srgbClr val="F8FAFF"/>
                </a:solidFill>
              </a:defRPr>
            </a:pPr>
            <a:r>
              <a:t>Restrict write access.</a:t>
            </a:r>
          </a:p>
          <a:p>
            <a:pPr>
              <a:spcAft>
                <a:spcPts val="1000"/>
              </a:spcAft>
              <a:defRPr sz="2000">
                <a:solidFill>
                  <a:srgbClr val="F8FAFF"/>
                </a:solidFill>
              </a:defRPr>
            </a:pPr>
            <a:r>
              <a:t>Test the result.</a:t>
            </a:r>
          </a:p>
        </p:txBody>
      </p:sp>
      <p:sp>
        <p:nvSpPr>
          <p:cNvPr id="10" name="TextBox 9"/>
          <p:cNvSpPr txBox="1"/>
          <p:nvPr/>
        </p:nvSpPr>
        <p:spPr>
          <a:xfrm>
            <a:off x="10789920" y="6400800"/>
            <a:ext cx="640080" cy="274320"/>
          </a:xfrm>
          <a:prstGeom prst="rect">
            <a:avLst/>
          </a:prstGeom>
          <a:noFill/>
        </p:spPr>
        <p:txBody>
          <a:bodyPr wrap="none">
            <a:spAutoFit/>
          </a:bodyPr>
          <a:lstStyle/>
          <a:p>
            <a:pPr algn="r">
              <a:defRPr sz="1100">
                <a:solidFill>
                  <a:srgbClr val="B9CADC"/>
                </a:solidFill>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223"/>
        </a:solidFill>
        <a:effectLst/>
      </p:bgPr>
    </p:bg>
    <p:spTree>
      <p:nvGrpSpPr>
        <p:cNvPr id="1" name=""/>
        <p:cNvGrpSpPr/>
        <p:nvPr/>
      </p:nvGrpSpPr>
      <p:grpSpPr>
        <a:xfrm>
          <a:off x="0" y="0"/>
          <a:ext cx="0" cy="0"/>
          <a:chOff x="0" y="0"/>
          <a:chExt cx="0" cy="0"/>
        </a:xfrm>
      </p:grpSpPr>
      <p:sp>
        <p:nvSpPr>
          <p:cNvPr id="2" name="Oval 1"/>
          <p:cNvSpPr/>
          <p:nvPr/>
        </p:nvSpPr>
        <p:spPr>
          <a:xfrm>
            <a:off x="10698480" y="-457200"/>
            <a:ext cx="2194560" cy="2194560"/>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669280"/>
            <a:ext cx="1920240" cy="192024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486400"/>
            <a:ext cx="1554480" cy="15544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789920" cy="731520"/>
          </a:xfrm>
          <a:prstGeom prst="rect">
            <a:avLst/>
          </a:prstGeom>
          <a:noFill/>
        </p:spPr>
        <p:txBody>
          <a:bodyPr wrap="none">
            <a:spAutoFit/>
          </a:bodyPr>
          <a:lstStyle/>
          <a:p>
            <a:pPr>
              <a:defRPr sz="3000" b="1">
                <a:solidFill>
                  <a:srgbClr val="F8FAFF"/>
                </a:solidFill>
              </a:defRPr>
            </a:pPr>
            <a:r>
              <a:t>OBJECTIVES</a:t>
            </a:r>
          </a:p>
          <a:p>
            <a:pPr>
              <a:defRPr sz="1500">
                <a:solidFill>
                  <a:srgbClr val="00D2FF"/>
                </a:solidFill>
              </a:defRPr>
            </a:pPr>
            <a:r>
              <a:t>What we want to achieve</a:t>
            </a:r>
          </a:p>
        </p:txBody>
      </p:sp>
      <p:sp>
        <p:nvSpPr>
          <p:cNvPr id="6" name="Rectangle 5"/>
          <p:cNvSpPr/>
          <p:nvPr/>
        </p:nvSpPr>
        <p:spPr>
          <a:xfrm>
            <a:off x="685800" y="1207008"/>
            <a:ext cx="2011680" cy="54864"/>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691640"/>
            <a:ext cx="3337560" cy="1508760"/>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00D2FF"/>
                </a:solidFill>
              </a:defRPr>
            </a:pPr>
            <a:r>
              <a:t>01</a:t>
            </a:r>
          </a:p>
          <a:p>
            <a:pPr>
              <a:spcAft>
                <a:spcPts val="1000"/>
              </a:spcAft>
              <a:defRPr sz="1800">
                <a:solidFill>
                  <a:srgbClr val="F8FAFF"/>
                </a:solidFill>
              </a:defRPr>
            </a:pPr>
            <a:r>
              <a:t>Understand Linux file permissions</a:t>
            </a:r>
          </a:p>
        </p:txBody>
      </p:sp>
      <p:sp>
        <p:nvSpPr>
          <p:cNvPr id="8" name="Rounded Rectangle 7"/>
          <p:cNvSpPr/>
          <p:nvPr/>
        </p:nvSpPr>
        <p:spPr>
          <a:xfrm>
            <a:off x="4572000" y="1691640"/>
            <a:ext cx="3337560" cy="1508760"/>
          </a:xfrm>
          <a:prstGeom prst="roundRect">
            <a:avLst/>
          </a:prstGeom>
          <a:solidFill>
            <a:srgbClr val="12243A"/>
          </a:solidFill>
          <a:ln>
            <a:solidFill>
              <a:srgbClr val="915F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915FFF"/>
                </a:solidFill>
              </a:defRPr>
            </a:pPr>
            <a:r>
              <a:t>02</a:t>
            </a:r>
          </a:p>
          <a:p>
            <a:pPr>
              <a:spcAft>
                <a:spcPts val="1000"/>
              </a:spcAft>
              <a:defRPr sz="1800">
                <a:solidFill>
                  <a:srgbClr val="F8FAFF"/>
                </a:solidFill>
              </a:defRPr>
            </a:pPr>
            <a:r>
              <a:t>Identify executable files</a:t>
            </a:r>
          </a:p>
        </p:txBody>
      </p:sp>
      <p:sp>
        <p:nvSpPr>
          <p:cNvPr id="9" name="Rounded Rectangle 8"/>
          <p:cNvSpPr/>
          <p:nvPr/>
        </p:nvSpPr>
        <p:spPr>
          <a:xfrm>
            <a:off x="8366760" y="1691640"/>
            <a:ext cx="3337560" cy="1508760"/>
          </a:xfrm>
          <a:prstGeom prst="roundRect">
            <a:avLst/>
          </a:prstGeom>
          <a:solidFill>
            <a:srgbClr val="12243A"/>
          </a:solidFill>
          <a:ln>
            <a:solidFill>
              <a:srgbClr val="37EBA5"/>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37EBA5"/>
                </a:solidFill>
              </a:defRPr>
            </a:pPr>
            <a:r>
              <a:t>03</a:t>
            </a:r>
          </a:p>
          <a:p>
            <a:pPr>
              <a:spcAft>
                <a:spcPts val="1000"/>
              </a:spcAft>
              <a:defRPr sz="1800">
                <a:solidFill>
                  <a:srgbClr val="F8FAFF"/>
                </a:solidFill>
              </a:defRPr>
            </a:pPr>
            <a:r>
              <a:t>Inspect file information</a:t>
            </a:r>
          </a:p>
        </p:txBody>
      </p:sp>
      <p:sp>
        <p:nvSpPr>
          <p:cNvPr id="10" name="Rounded Rectangle 9"/>
          <p:cNvSpPr/>
          <p:nvPr/>
        </p:nvSpPr>
        <p:spPr>
          <a:xfrm>
            <a:off x="2697480" y="3886200"/>
            <a:ext cx="3337560" cy="1508760"/>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00D2FF"/>
                </a:solidFill>
              </a:defRPr>
            </a:pPr>
            <a:r>
              <a:t>04</a:t>
            </a:r>
          </a:p>
          <a:p>
            <a:pPr>
              <a:spcAft>
                <a:spcPts val="1000"/>
              </a:spcAft>
              <a:defRPr sz="1800">
                <a:solidFill>
                  <a:srgbClr val="F8FAFF"/>
                </a:solidFill>
              </a:defRPr>
            </a:pPr>
            <a:r>
              <a:t>Restrict write permissions</a:t>
            </a:r>
          </a:p>
        </p:txBody>
      </p:sp>
      <p:sp>
        <p:nvSpPr>
          <p:cNvPr id="11" name="Rounded Rectangle 10"/>
          <p:cNvSpPr/>
          <p:nvPr/>
        </p:nvSpPr>
        <p:spPr>
          <a:xfrm>
            <a:off x="6492240" y="3886200"/>
            <a:ext cx="3337560" cy="1508760"/>
          </a:xfrm>
          <a:prstGeom prst="roundRect">
            <a:avLst/>
          </a:prstGeom>
          <a:solidFill>
            <a:srgbClr val="12243A"/>
          </a:solidFill>
          <a:ln>
            <a:solidFill>
              <a:srgbClr val="915F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915FFF"/>
                </a:solidFill>
              </a:defRPr>
            </a:pPr>
            <a:r>
              <a:t>05</a:t>
            </a:r>
          </a:p>
          <a:p>
            <a:pPr>
              <a:spcAft>
                <a:spcPts val="1000"/>
              </a:spcAft>
              <a:defRPr sz="1800">
                <a:solidFill>
                  <a:srgbClr val="F8FAFF"/>
                </a:solidFill>
              </a:defRPr>
            </a:pPr>
            <a:r>
              <a:t>Test allowed and denied write operations</a:t>
            </a:r>
          </a:p>
        </p:txBody>
      </p:sp>
      <p:sp>
        <p:nvSpPr>
          <p:cNvPr id="12" name="TextBox 11"/>
          <p:cNvSpPr txBox="1"/>
          <p:nvPr/>
        </p:nvSpPr>
        <p:spPr>
          <a:xfrm>
            <a:off x="10789920" y="6400800"/>
            <a:ext cx="640080" cy="274320"/>
          </a:xfrm>
          <a:prstGeom prst="rect">
            <a:avLst/>
          </a:prstGeom>
          <a:noFill/>
        </p:spPr>
        <p:txBody>
          <a:bodyPr wrap="none">
            <a:spAutoFit/>
          </a:bodyPr>
          <a:lstStyle/>
          <a:p>
            <a:pPr algn="r">
              <a:defRPr sz="1100">
                <a:solidFill>
                  <a:srgbClr val="B9CADC"/>
                </a:solidFill>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223"/>
        </a:solidFill>
        <a:effectLst/>
      </p:bgPr>
    </p:bg>
    <p:spTree>
      <p:nvGrpSpPr>
        <p:cNvPr id="1" name=""/>
        <p:cNvGrpSpPr/>
        <p:nvPr/>
      </p:nvGrpSpPr>
      <p:grpSpPr>
        <a:xfrm>
          <a:off x="0" y="0"/>
          <a:ext cx="0" cy="0"/>
          <a:chOff x="0" y="0"/>
          <a:chExt cx="0" cy="0"/>
        </a:xfrm>
      </p:grpSpPr>
      <p:sp>
        <p:nvSpPr>
          <p:cNvPr id="2" name="Oval 1"/>
          <p:cNvSpPr/>
          <p:nvPr/>
        </p:nvSpPr>
        <p:spPr>
          <a:xfrm>
            <a:off x="10698480" y="-457200"/>
            <a:ext cx="2194560" cy="2194560"/>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669280"/>
            <a:ext cx="1920240" cy="192024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486400"/>
            <a:ext cx="1554480" cy="15544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789920" cy="731520"/>
          </a:xfrm>
          <a:prstGeom prst="rect">
            <a:avLst/>
          </a:prstGeom>
          <a:noFill/>
        </p:spPr>
        <p:txBody>
          <a:bodyPr wrap="none">
            <a:spAutoFit/>
          </a:bodyPr>
          <a:lstStyle/>
          <a:p>
            <a:pPr>
              <a:defRPr sz="3000" b="1">
                <a:solidFill>
                  <a:srgbClr val="F8FAFF"/>
                </a:solidFill>
              </a:defRPr>
            </a:pPr>
            <a:r>
              <a:t>PROPOSED METHODOLOGY</a:t>
            </a:r>
          </a:p>
          <a:p>
            <a:pPr>
              <a:defRPr sz="1500">
                <a:solidFill>
                  <a:srgbClr val="00D2FF"/>
                </a:solidFill>
              </a:defRPr>
            </a:pPr>
            <a:r>
              <a:t>How we plan to build the project</a:t>
            </a:r>
          </a:p>
        </p:txBody>
      </p:sp>
      <p:sp>
        <p:nvSpPr>
          <p:cNvPr id="6" name="Rectangle 5"/>
          <p:cNvSpPr/>
          <p:nvPr/>
        </p:nvSpPr>
        <p:spPr>
          <a:xfrm>
            <a:off x="685800" y="1207008"/>
            <a:ext cx="2011680" cy="54864"/>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417320"/>
            <a:ext cx="475488" cy="475488"/>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71223"/>
                </a:solidFill>
              </a:defRPr>
            </a:pPr>
            <a:r>
              <a:t>1</a:t>
            </a:r>
          </a:p>
        </p:txBody>
      </p:sp>
      <p:sp>
        <p:nvSpPr>
          <p:cNvPr id="8" name="Rounded Rectangle 7"/>
          <p:cNvSpPr/>
          <p:nvPr/>
        </p:nvSpPr>
        <p:spPr>
          <a:xfrm>
            <a:off x="1554480" y="1389888"/>
            <a:ext cx="8869680" cy="530352"/>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AFF"/>
                </a:solidFill>
              </a:defRPr>
            </a:pPr>
            <a:r>
              <a:t>USER GIVES FILE PATH</a:t>
            </a:r>
          </a:p>
        </p:txBody>
      </p:sp>
      <p:sp>
        <p:nvSpPr>
          <p:cNvPr id="9" name="Oval 8"/>
          <p:cNvSpPr/>
          <p:nvPr/>
        </p:nvSpPr>
        <p:spPr>
          <a:xfrm>
            <a:off x="914400" y="2084832"/>
            <a:ext cx="475488" cy="475488"/>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71223"/>
                </a:solidFill>
              </a:defRPr>
            </a:pPr>
            <a:r>
              <a:t>2</a:t>
            </a:r>
          </a:p>
        </p:txBody>
      </p:sp>
      <p:sp>
        <p:nvSpPr>
          <p:cNvPr id="10" name="Rounded Rectangle 9"/>
          <p:cNvSpPr/>
          <p:nvPr/>
        </p:nvSpPr>
        <p:spPr>
          <a:xfrm>
            <a:off x="1554480" y="2057400"/>
            <a:ext cx="8869680" cy="530352"/>
          </a:xfrm>
          <a:prstGeom prst="roundRect">
            <a:avLst/>
          </a:prstGeom>
          <a:solidFill>
            <a:srgbClr val="12243A"/>
          </a:solidFill>
          <a:ln>
            <a:solidFill>
              <a:srgbClr val="915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AFF"/>
                </a:solidFill>
              </a:defRPr>
            </a:pPr>
            <a:r>
              <a:t>CHECK FILE INFORMATION</a:t>
            </a:r>
          </a:p>
        </p:txBody>
      </p:sp>
      <p:sp>
        <p:nvSpPr>
          <p:cNvPr id="11" name="Oval 10"/>
          <p:cNvSpPr/>
          <p:nvPr/>
        </p:nvSpPr>
        <p:spPr>
          <a:xfrm>
            <a:off x="914400" y="2752344"/>
            <a:ext cx="475488" cy="475488"/>
          </a:xfrm>
          <a:prstGeom prst="ellipse">
            <a:avLst/>
          </a:prstGeom>
          <a:solidFill>
            <a:srgbClr val="37E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71223"/>
                </a:solidFill>
              </a:defRPr>
            </a:pPr>
            <a:r>
              <a:t>3</a:t>
            </a:r>
          </a:p>
        </p:txBody>
      </p:sp>
      <p:sp>
        <p:nvSpPr>
          <p:cNvPr id="12" name="Rounded Rectangle 11"/>
          <p:cNvSpPr/>
          <p:nvPr/>
        </p:nvSpPr>
        <p:spPr>
          <a:xfrm>
            <a:off x="1554480" y="2724912"/>
            <a:ext cx="8869680" cy="530352"/>
          </a:xfrm>
          <a:prstGeom prst="roundRect">
            <a:avLst/>
          </a:prstGeom>
          <a:solidFill>
            <a:srgbClr val="12243A"/>
          </a:solidFill>
          <a:ln>
            <a:solidFill>
              <a:srgbClr val="37E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AFF"/>
                </a:solidFill>
              </a:defRPr>
            </a:pPr>
            <a:r>
              <a:t>CHECK IF FILE IS EXECUTABLE</a:t>
            </a:r>
          </a:p>
        </p:txBody>
      </p:sp>
      <p:sp>
        <p:nvSpPr>
          <p:cNvPr id="13" name="Oval 12"/>
          <p:cNvSpPr/>
          <p:nvPr/>
        </p:nvSpPr>
        <p:spPr>
          <a:xfrm>
            <a:off x="914400" y="3419856"/>
            <a:ext cx="475488" cy="475488"/>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71223"/>
                </a:solidFill>
              </a:defRPr>
            </a:pPr>
            <a:r>
              <a:t>4</a:t>
            </a:r>
          </a:p>
        </p:txBody>
      </p:sp>
      <p:sp>
        <p:nvSpPr>
          <p:cNvPr id="14" name="Rounded Rectangle 13"/>
          <p:cNvSpPr/>
          <p:nvPr/>
        </p:nvSpPr>
        <p:spPr>
          <a:xfrm>
            <a:off x="1554480" y="3392424"/>
            <a:ext cx="8869680" cy="530352"/>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AFF"/>
                </a:solidFill>
              </a:defRPr>
            </a:pPr>
            <a:r>
              <a:t>DISPLAY CURRENT PERMISSIONS</a:t>
            </a:r>
          </a:p>
        </p:txBody>
      </p:sp>
      <p:sp>
        <p:nvSpPr>
          <p:cNvPr id="15" name="Oval 14"/>
          <p:cNvSpPr/>
          <p:nvPr/>
        </p:nvSpPr>
        <p:spPr>
          <a:xfrm>
            <a:off x="914400" y="4087368"/>
            <a:ext cx="475488" cy="475488"/>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71223"/>
                </a:solidFill>
              </a:defRPr>
            </a:pPr>
            <a:r>
              <a:t>5</a:t>
            </a:r>
          </a:p>
        </p:txBody>
      </p:sp>
      <p:sp>
        <p:nvSpPr>
          <p:cNvPr id="16" name="Rounded Rectangle 15"/>
          <p:cNvSpPr/>
          <p:nvPr/>
        </p:nvSpPr>
        <p:spPr>
          <a:xfrm>
            <a:off x="1554480" y="4059935"/>
            <a:ext cx="8869680" cy="530352"/>
          </a:xfrm>
          <a:prstGeom prst="roundRect">
            <a:avLst/>
          </a:prstGeom>
          <a:solidFill>
            <a:srgbClr val="12243A"/>
          </a:solidFill>
          <a:ln>
            <a:solidFill>
              <a:srgbClr val="915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AFF"/>
                </a:solidFill>
              </a:defRPr>
            </a:pPr>
            <a:r>
              <a:t>RESTRICT WRITE PERMISSION</a:t>
            </a:r>
          </a:p>
        </p:txBody>
      </p:sp>
      <p:sp>
        <p:nvSpPr>
          <p:cNvPr id="17" name="Oval 16"/>
          <p:cNvSpPr/>
          <p:nvPr/>
        </p:nvSpPr>
        <p:spPr>
          <a:xfrm>
            <a:off x="914400" y="4754880"/>
            <a:ext cx="475488" cy="475488"/>
          </a:xfrm>
          <a:prstGeom prst="ellipse">
            <a:avLst/>
          </a:prstGeom>
          <a:solidFill>
            <a:srgbClr val="37E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71223"/>
                </a:solidFill>
              </a:defRPr>
            </a:pPr>
            <a:r>
              <a:t>6</a:t>
            </a:r>
          </a:p>
        </p:txBody>
      </p:sp>
      <p:sp>
        <p:nvSpPr>
          <p:cNvPr id="18" name="Rounded Rectangle 17"/>
          <p:cNvSpPr/>
          <p:nvPr/>
        </p:nvSpPr>
        <p:spPr>
          <a:xfrm>
            <a:off x="1554480" y="4727448"/>
            <a:ext cx="8869680" cy="530352"/>
          </a:xfrm>
          <a:prstGeom prst="roundRect">
            <a:avLst/>
          </a:prstGeom>
          <a:solidFill>
            <a:srgbClr val="12243A"/>
          </a:solidFill>
          <a:ln>
            <a:solidFill>
              <a:srgbClr val="37E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AFF"/>
                </a:solidFill>
              </a:defRPr>
            </a:pPr>
            <a:r>
              <a:t>TEST THE WRITE OPERATION</a:t>
            </a:r>
          </a:p>
        </p:txBody>
      </p:sp>
      <p:sp>
        <p:nvSpPr>
          <p:cNvPr id="19" name="Oval 18"/>
          <p:cNvSpPr/>
          <p:nvPr/>
        </p:nvSpPr>
        <p:spPr>
          <a:xfrm>
            <a:off x="914400" y="5422392"/>
            <a:ext cx="475488" cy="475488"/>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71223"/>
                </a:solidFill>
              </a:defRPr>
            </a:pPr>
            <a:r>
              <a:t>7</a:t>
            </a:r>
          </a:p>
        </p:txBody>
      </p:sp>
      <p:sp>
        <p:nvSpPr>
          <p:cNvPr id="20" name="Rounded Rectangle 19"/>
          <p:cNvSpPr/>
          <p:nvPr/>
        </p:nvSpPr>
        <p:spPr>
          <a:xfrm>
            <a:off x="1554480" y="5394959"/>
            <a:ext cx="8869680" cy="530352"/>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AFF"/>
                </a:solidFill>
              </a:defRPr>
            </a:pPr>
            <a:r>
              <a:t>DISPLAY THE RESULT</a:t>
            </a:r>
          </a:p>
        </p:txBody>
      </p:sp>
      <p:sp>
        <p:nvSpPr>
          <p:cNvPr id="21" name="TextBox 20"/>
          <p:cNvSpPr txBox="1"/>
          <p:nvPr/>
        </p:nvSpPr>
        <p:spPr>
          <a:xfrm>
            <a:off x="10789920" y="6400800"/>
            <a:ext cx="640080" cy="274320"/>
          </a:xfrm>
          <a:prstGeom prst="rect">
            <a:avLst/>
          </a:prstGeom>
          <a:noFill/>
        </p:spPr>
        <p:txBody>
          <a:bodyPr wrap="none">
            <a:spAutoFit/>
          </a:bodyPr>
          <a:lstStyle/>
          <a:p>
            <a:pPr algn="r">
              <a:defRPr sz="1100">
                <a:solidFill>
                  <a:srgbClr val="B9CADC"/>
                </a:solidFill>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223"/>
        </a:solidFill>
        <a:effectLst/>
      </p:bgPr>
    </p:bg>
    <p:spTree>
      <p:nvGrpSpPr>
        <p:cNvPr id="1" name=""/>
        <p:cNvGrpSpPr/>
        <p:nvPr/>
      </p:nvGrpSpPr>
      <p:grpSpPr>
        <a:xfrm>
          <a:off x="0" y="0"/>
          <a:ext cx="0" cy="0"/>
          <a:chOff x="0" y="0"/>
          <a:chExt cx="0" cy="0"/>
        </a:xfrm>
      </p:grpSpPr>
      <p:sp>
        <p:nvSpPr>
          <p:cNvPr id="2" name="Oval 1"/>
          <p:cNvSpPr/>
          <p:nvPr/>
        </p:nvSpPr>
        <p:spPr>
          <a:xfrm>
            <a:off x="10698480" y="-457200"/>
            <a:ext cx="2194560" cy="2194560"/>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669280"/>
            <a:ext cx="1920240" cy="192024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486400"/>
            <a:ext cx="1554480" cy="15544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789920" cy="731520"/>
          </a:xfrm>
          <a:prstGeom prst="rect">
            <a:avLst/>
          </a:prstGeom>
          <a:noFill/>
        </p:spPr>
        <p:txBody>
          <a:bodyPr wrap="none">
            <a:spAutoFit/>
          </a:bodyPr>
          <a:lstStyle/>
          <a:p>
            <a:pPr>
              <a:defRPr sz="3000" b="1">
                <a:solidFill>
                  <a:srgbClr val="F8FAFF"/>
                </a:solidFill>
              </a:defRPr>
            </a:pPr>
            <a:r>
              <a:t>PROPOSED WORKFLOW</a:t>
            </a:r>
          </a:p>
          <a:p>
            <a:pPr>
              <a:defRPr sz="1500">
                <a:solidFill>
                  <a:srgbClr val="00D2FF"/>
                </a:solidFill>
              </a:defRPr>
            </a:pPr>
            <a:r>
              <a:t>Simple system flow</a:t>
            </a:r>
          </a:p>
        </p:txBody>
      </p:sp>
      <p:sp>
        <p:nvSpPr>
          <p:cNvPr id="6" name="Rectangle 5"/>
          <p:cNvSpPr/>
          <p:nvPr/>
        </p:nvSpPr>
        <p:spPr>
          <a:xfrm>
            <a:off x="685800" y="1207008"/>
            <a:ext cx="2011680" cy="54864"/>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2148840"/>
            <a:ext cx="1627632" cy="2011680"/>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a:pPr>
            <a:r>
              <a:t>📂</a:t>
            </a:r>
          </a:p>
          <a:p>
            <a:pPr algn="ctr">
              <a:defRPr sz="1400" b="1">
                <a:solidFill>
                  <a:srgbClr val="F8FAFF"/>
                </a:solidFill>
              </a:defRPr>
            </a:pPr>
            <a:r>
              <a:t>SELECT FILE</a:t>
            </a:r>
          </a:p>
        </p:txBody>
      </p:sp>
      <p:sp>
        <p:nvSpPr>
          <p:cNvPr id="8" name="TextBox 7"/>
          <p:cNvSpPr txBox="1"/>
          <p:nvPr/>
        </p:nvSpPr>
        <p:spPr>
          <a:xfrm>
            <a:off x="2176272" y="2788920"/>
            <a:ext cx="274320" cy="365760"/>
          </a:xfrm>
          <a:prstGeom prst="rect">
            <a:avLst/>
          </a:prstGeom>
          <a:noFill/>
        </p:spPr>
        <p:txBody>
          <a:bodyPr wrap="none">
            <a:spAutoFit/>
          </a:bodyPr>
          <a:lstStyle/>
          <a:p>
            <a:pPr algn="ctr">
              <a:defRPr sz="2000">
                <a:solidFill>
                  <a:srgbClr val="00D2FF"/>
                </a:solidFill>
              </a:defRPr>
            </a:pPr>
            <a:r>
              <a:t>→</a:t>
            </a:r>
          </a:p>
        </p:txBody>
      </p:sp>
      <p:sp>
        <p:nvSpPr>
          <p:cNvPr id="9" name="Rounded Rectangle 8"/>
          <p:cNvSpPr/>
          <p:nvPr/>
        </p:nvSpPr>
        <p:spPr>
          <a:xfrm>
            <a:off x="2487168" y="2148840"/>
            <a:ext cx="1627632" cy="2011680"/>
          </a:xfrm>
          <a:prstGeom prst="roundRect">
            <a:avLst/>
          </a:prstGeom>
          <a:solidFill>
            <a:srgbClr val="12243A"/>
          </a:solidFill>
          <a:ln>
            <a:solidFill>
              <a:srgbClr val="915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a:pPr>
            <a:r>
              <a:t>🔎</a:t>
            </a:r>
          </a:p>
          <a:p>
            <a:pPr algn="ctr">
              <a:defRPr sz="1400" b="1">
                <a:solidFill>
                  <a:srgbClr val="F8FAFF"/>
                </a:solidFill>
              </a:defRPr>
            </a:pPr>
            <a:r>
              <a:t>CHECK FILE</a:t>
            </a:r>
          </a:p>
        </p:txBody>
      </p:sp>
      <p:sp>
        <p:nvSpPr>
          <p:cNvPr id="10" name="TextBox 9"/>
          <p:cNvSpPr txBox="1"/>
          <p:nvPr/>
        </p:nvSpPr>
        <p:spPr>
          <a:xfrm>
            <a:off x="4114800" y="2788920"/>
            <a:ext cx="274320" cy="365760"/>
          </a:xfrm>
          <a:prstGeom prst="rect">
            <a:avLst/>
          </a:prstGeom>
          <a:noFill/>
        </p:spPr>
        <p:txBody>
          <a:bodyPr wrap="none">
            <a:spAutoFit/>
          </a:bodyPr>
          <a:lstStyle/>
          <a:p>
            <a:pPr algn="ctr">
              <a:defRPr sz="2000">
                <a:solidFill>
                  <a:srgbClr val="00D2FF"/>
                </a:solidFill>
              </a:defRPr>
            </a:pPr>
            <a:r>
              <a:t>→</a:t>
            </a:r>
          </a:p>
        </p:txBody>
      </p:sp>
      <p:sp>
        <p:nvSpPr>
          <p:cNvPr id="11" name="Rounded Rectangle 10"/>
          <p:cNvSpPr/>
          <p:nvPr/>
        </p:nvSpPr>
        <p:spPr>
          <a:xfrm>
            <a:off x="4425696" y="2148840"/>
            <a:ext cx="1627632" cy="2011680"/>
          </a:xfrm>
          <a:prstGeom prst="roundRect">
            <a:avLst/>
          </a:prstGeom>
          <a:solidFill>
            <a:srgbClr val="12243A"/>
          </a:solidFill>
          <a:ln>
            <a:solidFill>
              <a:srgbClr val="37E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a:pPr>
            <a:r>
              <a:t>⚙️</a:t>
            </a:r>
          </a:p>
          <a:p>
            <a:pPr algn="ctr">
              <a:defRPr sz="1400" b="1">
                <a:solidFill>
                  <a:srgbClr val="F8FAFF"/>
                </a:solidFill>
              </a:defRPr>
            </a:pPr>
            <a:r>
              <a:t>CHECK PERMISSIONS</a:t>
            </a:r>
          </a:p>
        </p:txBody>
      </p:sp>
      <p:sp>
        <p:nvSpPr>
          <p:cNvPr id="12" name="TextBox 11"/>
          <p:cNvSpPr txBox="1"/>
          <p:nvPr/>
        </p:nvSpPr>
        <p:spPr>
          <a:xfrm>
            <a:off x="6053328" y="2788920"/>
            <a:ext cx="274320" cy="365760"/>
          </a:xfrm>
          <a:prstGeom prst="rect">
            <a:avLst/>
          </a:prstGeom>
          <a:noFill/>
        </p:spPr>
        <p:txBody>
          <a:bodyPr wrap="none">
            <a:spAutoFit/>
          </a:bodyPr>
          <a:lstStyle/>
          <a:p>
            <a:pPr algn="ctr">
              <a:defRPr sz="2000">
                <a:solidFill>
                  <a:srgbClr val="00D2FF"/>
                </a:solidFill>
              </a:defRPr>
            </a:pPr>
            <a:r>
              <a:t>→</a:t>
            </a:r>
          </a:p>
        </p:txBody>
      </p:sp>
      <p:sp>
        <p:nvSpPr>
          <p:cNvPr id="13" name="Rounded Rectangle 12"/>
          <p:cNvSpPr/>
          <p:nvPr/>
        </p:nvSpPr>
        <p:spPr>
          <a:xfrm>
            <a:off x="6364224" y="2148840"/>
            <a:ext cx="1627632" cy="2011680"/>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a:pPr>
            <a:r>
              <a:t>🔒</a:t>
            </a:r>
          </a:p>
          <a:p>
            <a:pPr algn="ctr">
              <a:defRPr sz="1400" b="1">
                <a:solidFill>
                  <a:srgbClr val="F8FAFF"/>
                </a:solidFill>
              </a:defRPr>
            </a:pPr>
            <a:r>
              <a:t>RESTRICT WRITE</a:t>
            </a:r>
          </a:p>
        </p:txBody>
      </p:sp>
      <p:sp>
        <p:nvSpPr>
          <p:cNvPr id="14" name="TextBox 13"/>
          <p:cNvSpPr txBox="1"/>
          <p:nvPr/>
        </p:nvSpPr>
        <p:spPr>
          <a:xfrm>
            <a:off x="7991856" y="2788920"/>
            <a:ext cx="274320" cy="365760"/>
          </a:xfrm>
          <a:prstGeom prst="rect">
            <a:avLst/>
          </a:prstGeom>
          <a:noFill/>
        </p:spPr>
        <p:txBody>
          <a:bodyPr wrap="none">
            <a:spAutoFit/>
          </a:bodyPr>
          <a:lstStyle/>
          <a:p>
            <a:pPr algn="ctr">
              <a:defRPr sz="2000">
                <a:solidFill>
                  <a:srgbClr val="00D2FF"/>
                </a:solidFill>
              </a:defRPr>
            </a:pPr>
            <a:r>
              <a:t>→</a:t>
            </a:r>
          </a:p>
        </p:txBody>
      </p:sp>
      <p:sp>
        <p:nvSpPr>
          <p:cNvPr id="15" name="Rounded Rectangle 14"/>
          <p:cNvSpPr/>
          <p:nvPr/>
        </p:nvSpPr>
        <p:spPr>
          <a:xfrm>
            <a:off x="8302752" y="2148840"/>
            <a:ext cx="1627632" cy="2011680"/>
          </a:xfrm>
          <a:prstGeom prst="roundRect">
            <a:avLst/>
          </a:prstGeom>
          <a:solidFill>
            <a:srgbClr val="12243A"/>
          </a:solidFill>
          <a:ln>
            <a:solidFill>
              <a:srgbClr val="915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a:pPr>
            <a:r>
              <a:t>✍️</a:t>
            </a:r>
          </a:p>
          <a:p>
            <a:pPr algn="ctr">
              <a:defRPr sz="1400" b="1">
                <a:solidFill>
                  <a:srgbClr val="F8FAFF"/>
                </a:solidFill>
              </a:defRPr>
            </a:pPr>
            <a:r>
              <a:t>TRY TO WRITE</a:t>
            </a:r>
          </a:p>
        </p:txBody>
      </p:sp>
      <p:sp>
        <p:nvSpPr>
          <p:cNvPr id="16" name="TextBox 15"/>
          <p:cNvSpPr txBox="1"/>
          <p:nvPr/>
        </p:nvSpPr>
        <p:spPr>
          <a:xfrm>
            <a:off x="9930384" y="2788920"/>
            <a:ext cx="274320" cy="365760"/>
          </a:xfrm>
          <a:prstGeom prst="rect">
            <a:avLst/>
          </a:prstGeom>
          <a:noFill/>
        </p:spPr>
        <p:txBody>
          <a:bodyPr wrap="none">
            <a:spAutoFit/>
          </a:bodyPr>
          <a:lstStyle/>
          <a:p>
            <a:pPr algn="ctr">
              <a:defRPr sz="2000">
                <a:solidFill>
                  <a:srgbClr val="00D2FF"/>
                </a:solidFill>
              </a:defRPr>
            </a:pPr>
            <a:r>
              <a:t>→</a:t>
            </a:r>
          </a:p>
        </p:txBody>
      </p:sp>
      <p:sp>
        <p:nvSpPr>
          <p:cNvPr id="17" name="Rounded Rectangle 16"/>
          <p:cNvSpPr/>
          <p:nvPr/>
        </p:nvSpPr>
        <p:spPr>
          <a:xfrm>
            <a:off x="10241280" y="2148840"/>
            <a:ext cx="1627632" cy="2011680"/>
          </a:xfrm>
          <a:prstGeom prst="roundRect">
            <a:avLst/>
          </a:prstGeom>
          <a:solidFill>
            <a:srgbClr val="12243A"/>
          </a:solidFill>
          <a:ln>
            <a:solidFill>
              <a:srgbClr val="37E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a:pPr>
            <a:r>
              <a:t>📊</a:t>
            </a:r>
          </a:p>
          <a:p>
            <a:pPr algn="ctr">
              <a:defRPr sz="1400" b="1">
                <a:solidFill>
                  <a:srgbClr val="F8FAFF"/>
                </a:solidFill>
              </a:defRPr>
            </a:pPr>
            <a:r>
              <a:t>SHOW RESULT</a:t>
            </a:r>
          </a:p>
        </p:txBody>
      </p:sp>
      <p:sp>
        <p:nvSpPr>
          <p:cNvPr id="18" name="TextBox 17"/>
          <p:cNvSpPr txBox="1"/>
          <p:nvPr/>
        </p:nvSpPr>
        <p:spPr>
          <a:xfrm>
            <a:off x="10789920" y="6400800"/>
            <a:ext cx="640080" cy="274320"/>
          </a:xfrm>
          <a:prstGeom prst="rect">
            <a:avLst/>
          </a:prstGeom>
          <a:noFill/>
        </p:spPr>
        <p:txBody>
          <a:bodyPr wrap="none">
            <a:spAutoFit/>
          </a:bodyPr>
          <a:lstStyle/>
          <a:p>
            <a:pPr algn="r">
              <a:defRPr sz="1100">
                <a:solidFill>
                  <a:srgbClr val="B9CADC"/>
                </a:solidFill>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223"/>
        </a:solidFill>
        <a:effectLst/>
      </p:bgPr>
    </p:bg>
    <p:spTree>
      <p:nvGrpSpPr>
        <p:cNvPr id="1" name=""/>
        <p:cNvGrpSpPr/>
        <p:nvPr/>
      </p:nvGrpSpPr>
      <p:grpSpPr>
        <a:xfrm>
          <a:off x="0" y="0"/>
          <a:ext cx="0" cy="0"/>
          <a:chOff x="0" y="0"/>
          <a:chExt cx="0" cy="0"/>
        </a:xfrm>
      </p:grpSpPr>
      <p:sp>
        <p:nvSpPr>
          <p:cNvPr id="2" name="Oval 1"/>
          <p:cNvSpPr/>
          <p:nvPr/>
        </p:nvSpPr>
        <p:spPr>
          <a:xfrm>
            <a:off x="10698480" y="-457200"/>
            <a:ext cx="2194560" cy="2194560"/>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669280"/>
            <a:ext cx="1920240" cy="192024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486400"/>
            <a:ext cx="1554480" cy="15544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789920" cy="731520"/>
          </a:xfrm>
          <a:prstGeom prst="rect">
            <a:avLst/>
          </a:prstGeom>
          <a:noFill/>
        </p:spPr>
        <p:txBody>
          <a:bodyPr wrap="none">
            <a:spAutoFit/>
          </a:bodyPr>
          <a:lstStyle/>
          <a:p>
            <a:pPr>
              <a:defRPr sz="3000" b="1">
                <a:solidFill>
                  <a:srgbClr val="F8FAFF"/>
                </a:solidFill>
              </a:defRPr>
            </a:pPr>
            <a:r>
              <a:t>LINUX / POSIX APIS</a:t>
            </a:r>
          </a:p>
          <a:p>
            <a:pPr>
              <a:defRPr sz="1500">
                <a:solidFill>
                  <a:srgbClr val="00D2FF"/>
                </a:solidFill>
              </a:defRPr>
            </a:pPr>
            <a:r>
              <a:t>System calls and concepts we will use</a:t>
            </a:r>
          </a:p>
        </p:txBody>
      </p:sp>
      <p:sp>
        <p:nvSpPr>
          <p:cNvPr id="6" name="Rectangle 5"/>
          <p:cNvSpPr/>
          <p:nvPr/>
        </p:nvSpPr>
        <p:spPr>
          <a:xfrm>
            <a:off x="685800" y="1207008"/>
            <a:ext cx="2011680" cy="54864"/>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645920"/>
            <a:ext cx="3337560" cy="1645920"/>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00D2FF"/>
                </a:solidFill>
              </a:defRPr>
            </a:pPr>
            <a:r>
              <a:t>stat()</a:t>
            </a:r>
          </a:p>
          <a:p>
            <a:pPr>
              <a:spcAft>
                <a:spcPts val="1000"/>
              </a:spcAft>
              <a:defRPr sz="1700">
                <a:solidFill>
                  <a:srgbClr val="F8FAFF"/>
                </a:solidFill>
              </a:defRPr>
            </a:pPr>
            <a:r>
              <a:t>Gets file information and permissions</a:t>
            </a:r>
          </a:p>
        </p:txBody>
      </p:sp>
      <p:sp>
        <p:nvSpPr>
          <p:cNvPr id="8" name="Rounded Rectangle 7"/>
          <p:cNvSpPr/>
          <p:nvPr/>
        </p:nvSpPr>
        <p:spPr>
          <a:xfrm>
            <a:off x="4572000" y="1645920"/>
            <a:ext cx="3337560" cy="1645920"/>
          </a:xfrm>
          <a:prstGeom prst="roundRect">
            <a:avLst/>
          </a:prstGeom>
          <a:solidFill>
            <a:srgbClr val="12243A"/>
          </a:solidFill>
          <a:ln>
            <a:solidFill>
              <a:srgbClr val="915F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915FFF"/>
                </a:solidFill>
              </a:defRPr>
            </a:pPr>
            <a:r>
              <a:t>chmod()</a:t>
            </a:r>
          </a:p>
          <a:p>
            <a:pPr>
              <a:spcAft>
                <a:spcPts val="1000"/>
              </a:spcAft>
              <a:defRPr sz="1700">
                <a:solidFill>
                  <a:srgbClr val="F8FAFF"/>
                </a:solidFill>
              </a:defRPr>
            </a:pPr>
            <a:r>
              <a:t>Changes file permissions</a:t>
            </a:r>
          </a:p>
        </p:txBody>
      </p:sp>
      <p:sp>
        <p:nvSpPr>
          <p:cNvPr id="9" name="Rounded Rectangle 8"/>
          <p:cNvSpPr/>
          <p:nvPr/>
        </p:nvSpPr>
        <p:spPr>
          <a:xfrm>
            <a:off x="8366760" y="1645920"/>
            <a:ext cx="3337560" cy="1645920"/>
          </a:xfrm>
          <a:prstGeom prst="roundRect">
            <a:avLst/>
          </a:prstGeom>
          <a:solidFill>
            <a:srgbClr val="12243A"/>
          </a:solidFill>
          <a:ln>
            <a:solidFill>
              <a:srgbClr val="37EBA5"/>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37EBA5"/>
                </a:solidFill>
              </a:defRPr>
            </a:pPr>
            <a:r>
              <a:t>open()</a:t>
            </a:r>
          </a:p>
          <a:p>
            <a:pPr>
              <a:spcAft>
                <a:spcPts val="1000"/>
              </a:spcAft>
              <a:defRPr sz="1700">
                <a:solidFill>
                  <a:srgbClr val="F8FAFF"/>
                </a:solidFill>
              </a:defRPr>
            </a:pPr>
            <a:r>
              <a:t>Opens the selected file</a:t>
            </a:r>
          </a:p>
        </p:txBody>
      </p:sp>
      <p:sp>
        <p:nvSpPr>
          <p:cNvPr id="10" name="Rounded Rectangle 9"/>
          <p:cNvSpPr/>
          <p:nvPr/>
        </p:nvSpPr>
        <p:spPr>
          <a:xfrm>
            <a:off x="777240" y="3794760"/>
            <a:ext cx="3337560" cy="1645920"/>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00D2FF"/>
                </a:solidFill>
              </a:defRPr>
            </a:pPr>
            <a:r>
              <a:t>write()</a:t>
            </a:r>
          </a:p>
          <a:p>
            <a:pPr>
              <a:spcAft>
                <a:spcPts val="1000"/>
              </a:spcAft>
              <a:defRPr sz="1700">
                <a:solidFill>
                  <a:srgbClr val="F8FAFF"/>
                </a:solidFill>
              </a:defRPr>
            </a:pPr>
            <a:r>
              <a:t>Attempts to write to the file</a:t>
            </a:r>
          </a:p>
        </p:txBody>
      </p:sp>
      <p:sp>
        <p:nvSpPr>
          <p:cNvPr id="11" name="Rounded Rectangle 10"/>
          <p:cNvSpPr/>
          <p:nvPr/>
        </p:nvSpPr>
        <p:spPr>
          <a:xfrm>
            <a:off x="4572000" y="3794760"/>
            <a:ext cx="3337560" cy="1645920"/>
          </a:xfrm>
          <a:prstGeom prst="roundRect">
            <a:avLst/>
          </a:prstGeom>
          <a:solidFill>
            <a:srgbClr val="12243A"/>
          </a:solidFill>
          <a:ln>
            <a:solidFill>
              <a:srgbClr val="915F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915FFF"/>
                </a:solidFill>
              </a:defRPr>
            </a:pPr>
            <a:r>
              <a:t>close()</a:t>
            </a:r>
          </a:p>
          <a:p>
            <a:pPr>
              <a:spcAft>
                <a:spcPts val="1000"/>
              </a:spcAft>
              <a:defRPr sz="1700">
                <a:solidFill>
                  <a:srgbClr val="F8FAFF"/>
                </a:solidFill>
              </a:defRPr>
            </a:pPr>
            <a:r>
              <a:t>Closes the file descriptor</a:t>
            </a:r>
          </a:p>
        </p:txBody>
      </p:sp>
      <p:sp>
        <p:nvSpPr>
          <p:cNvPr id="12" name="Rounded Rectangle 11"/>
          <p:cNvSpPr/>
          <p:nvPr/>
        </p:nvSpPr>
        <p:spPr>
          <a:xfrm>
            <a:off x="8366760" y="3794760"/>
            <a:ext cx="3337560" cy="1645920"/>
          </a:xfrm>
          <a:prstGeom prst="roundRect">
            <a:avLst/>
          </a:prstGeom>
          <a:solidFill>
            <a:srgbClr val="12243A"/>
          </a:solidFill>
          <a:ln>
            <a:solidFill>
              <a:srgbClr val="37EBA5"/>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37EBA5"/>
                </a:solidFill>
              </a:defRPr>
            </a:pPr>
            <a:r>
              <a:t>errno</a:t>
            </a:r>
          </a:p>
          <a:p>
            <a:pPr>
              <a:spcAft>
                <a:spcPts val="1000"/>
              </a:spcAft>
              <a:defRPr sz="1700">
                <a:solidFill>
                  <a:srgbClr val="F8FAFF"/>
                </a:solidFill>
              </a:defRPr>
            </a:pPr>
            <a:r>
              <a:t>Helps display error information</a:t>
            </a:r>
          </a:p>
        </p:txBody>
      </p:sp>
      <p:sp>
        <p:nvSpPr>
          <p:cNvPr id="13" name="TextBox 12"/>
          <p:cNvSpPr txBox="1"/>
          <p:nvPr/>
        </p:nvSpPr>
        <p:spPr>
          <a:xfrm>
            <a:off x="10789920" y="6400800"/>
            <a:ext cx="640080" cy="274320"/>
          </a:xfrm>
          <a:prstGeom prst="rect">
            <a:avLst/>
          </a:prstGeom>
          <a:noFill/>
        </p:spPr>
        <p:txBody>
          <a:bodyPr wrap="none">
            <a:spAutoFit/>
          </a:bodyPr>
          <a:lstStyle/>
          <a:p>
            <a:pPr algn="r">
              <a:defRPr sz="1100">
                <a:solidFill>
                  <a:srgbClr val="B9CADC"/>
                </a:solidFill>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223"/>
        </a:solidFill>
        <a:effectLst/>
      </p:bgPr>
    </p:bg>
    <p:spTree>
      <p:nvGrpSpPr>
        <p:cNvPr id="1" name=""/>
        <p:cNvGrpSpPr/>
        <p:nvPr/>
      </p:nvGrpSpPr>
      <p:grpSpPr>
        <a:xfrm>
          <a:off x="0" y="0"/>
          <a:ext cx="0" cy="0"/>
          <a:chOff x="0" y="0"/>
          <a:chExt cx="0" cy="0"/>
        </a:xfrm>
      </p:grpSpPr>
      <p:sp>
        <p:nvSpPr>
          <p:cNvPr id="2" name="Oval 1"/>
          <p:cNvSpPr/>
          <p:nvPr/>
        </p:nvSpPr>
        <p:spPr>
          <a:xfrm>
            <a:off x="10698480" y="-457200"/>
            <a:ext cx="2194560" cy="2194560"/>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669280"/>
            <a:ext cx="1920240" cy="192024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486400"/>
            <a:ext cx="1554480" cy="15544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789920" cy="731520"/>
          </a:xfrm>
          <a:prstGeom prst="rect">
            <a:avLst/>
          </a:prstGeom>
          <a:noFill/>
        </p:spPr>
        <p:txBody>
          <a:bodyPr wrap="none">
            <a:spAutoFit/>
          </a:bodyPr>
          <a:lstStyle/>
          <a:p>
            <a:pPr>
              <a:defRPr sz="3000" b="1">
                <a:solidFill>
                  <a:srgbClr val="F8FAFF"/>
                </a:solidFill>
              </a:defRPr>
            </a:pPr>
            <a:r>
              <a:t>EXPECTED OUTCOMES</a:t>
            </a:r>
          </a:p>
          <a:p>
            <a:pPr>
              <a:defRPr sz="1500">
                <a:solidFill>
                  <a:srgbClr val="00D2FF"/>
                </a:solidFill>
              </a:defRPr>
            </a:pPr>
            <a:r>
              <a:t>What our project should demonstrate</a:t>
            </a:r>
          </a:p>
        </p:txBody>
      </p:sp>
      <p:sp>
        <p:nvSpPr>
          <p:cNvPr id="6" name="Rectangle 5"/>
          <p:cNvSpPr/>
          <p:nvPr/>
        </p:nvSpPr>
        <p:spPr>
          <a:xfrm>
            <a:off x="685800" y="1207008"/>
            <a:ext cx="2011680" cy="54864"/>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600200"/>
            <a:ext cx="5257800" cy="4389120"/>
          </a:xfrm>
          <a:prstGeom prst="roundRect">
            <a:avLst/>
          </a:prstGeom>
          <a:solidFill>
            <a:srgbClr val="12243A"/>
          </a:solidFill>
          <a:ln>
            <a:solidFill>
              <a:srgbClr val="37EBA5"/>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37EBA5"/>
                </a:solidFill>
              </a:defRPr>
            </a:pPr>
            <a:r>
              <a:t>✓ WORKING OUTPUT</a:t>
            </a:r>
          </a:p>
          <a:p>
            <a:pPr>
              <a:spcAft>
                <a:spcPts val="1000"/>
              </a:spcAft>
              <a:defRPr sz="2100">
                <a:solidFill>
                  <a:srgbClr val="F8FAFF"/>
                </a:solidFill>
              </a:defRPr>
            </a:pPr>
            <a:r>
              <a:t>Identify executable files.</a:t>
            </a:r>
          </a:p>
          <a:p>
            <a:pPr>
              <a:spcAft>
                <a:spcPts val="1000"/>
              </a:spcAft>
              <a:defRPr sz="2100">
                <a:solidFill>
                  <a:srgbClr val="F8FAFF"/>
                </a:solidFill>
              </a:defRPr>
            </a:pPr>
            <a:r>
              <a:t>Display file permissions.</a:t>
            </a:r>
          </a:p>
          <a:p>
            <a:pPr>
              <a:spcAft>
                <a:spcPts val="1000"/>
              </a:spcAft>
              <a:defRPr sz="2100">
                <a:solidFill>
                  <a:srgbClr val="F8FAFF"/>
                </a:solidFill>
              </a:defRPr>
            </a:pPr>
            <a:r>
              <a:t>Restrict write access.</a:t>
            </a:r>
          </a:p>
          <a:p>
            <a:pPr>
              <a:spcAft>
                <a:spcPts val="1000"/>
              </a:spcAft>
              <a:defRPr sz="2100">
                <a:solidFill>
                  <a:srgbClr val="F8FAFF"/>
                </a:solidFill>
              </a:defRPr>
            </a:pPr>
            <a:r>
              <a:t>Attempt controlled write operations.</a:t>
            </a:r>
          </a:p>
          <a:p>
            <a:pPr>
              <a:spcAft>
                <a:spcPts val="1000"/>
              </a:spcAft>
              <a:defRPr sz="2100">
                <a:solidFill>
                  <a:srgbClr val="F8FAFF"/>
                </a:solidFill>
              </a:defRPr>
            </a:pPr>
            <a:r>
              <a:t>Display the final result.</a:t>
            </a:r>
          </a:p>
        </p:txBody>
      </p:sp>
      <p:sp>
        <p:nvSpPr>
          <p:cNvPr id="8" name="Rounded Rectangle 7"/>
          <p:cNvSpPr/>
          <p:nvPr/>
        </p:nvSpPr>
        <p:spPr>
          <a:xfrm>
            <a:off x="6217920" y="1600200"/>
            <a:ext cx="5257800" cy="4389120"/>
          </a:xfrm>
          <a:prstGeom prst="roundRect">
            <a:avLst/>
          </a:prstGeom>
          <a:solidFill>
            <a:srgbClr val="12243A"/>
          </a:solidFill>
          <a:ln>
            <a:solidFill>
              <a:srgbClr val="00D2FF"/>
            </a:solidFill>
          </a:ln>
        </p:spPr>
        <p:style>
          <a:lnRef idx="1">
            <a:schemeClr val="accent1"/>
          </a:lnRef>
          <a:fillRef idx="3">
            <a:schemeClr val="accent1"/>
          </a:fillRef>
          <a:effectRef idx="2">
            <a:schemeClr val="accent1"/>
          </a:effectRef>
          <a:fontRef idx="minor">
            <a:schemeClr val="lt1"/>
          </a:fontRef>
        </p:style>
        <p:txBody>
          <a:bodyPr lIns="256032" tIns="182880" rIns="201168" rtlCol="0" anchor="t"/>
          <a:lstStyle/>
          <a:p>
            <a:pPr algn="ctr">
              <a:defRPr sz="2200" b="1">
                <a:solidFill>
                  <a:srgbClr val="00D2FF"/>
                </a:solidFill>
              </a:defRPr>
            </a:pPr>
            <a:r>
              <a:t>🎓 WHAT WE LEARN</a:t>
            </a:r>
          </a:p>
          <a:p>
            <a:pPr>
              <a:spcAft>
                <a:spcPts val="1000"/>
              </a:spcAft>
              <a:defRPr sz="2100">
                <a:solidFill>
                  <a:srgbClr val="F8FAFF"/>
                </a:solidFill>
              </a:defRPr>
            </a:pPr>
            <a:r>
              <a:t>Linux file permissions.</a:t>
            </a:r>
          </a:p>
          <a:p>
            <a:pPr>
              <a:spcAft>
                <a:spcPts val="1000"/>
              </a:spcAft>
              <a:defRPr sz="2100">
                <a:solidFill>
                  <a:srgbClr val="F8FAFF"/>
                </a:solidFill>
              </a:defRPr>
            </a:pPr>
            <a:r>
              <a:t>File protection and access control.</a:t>
            </a:r>
          </a:p>
          <a:p>
            <a:pPr>
              <a:spcAft>
                <a:spcPts val="1000"/>
              </a:spcAft>
              <a:defRPr sz="2100">
                <a:solidFill>
                  <a:srgbClr val="F8FAFF"/>
                </a:solidFill>
              </a:defRPr>
            </a:pPr>
            <a:r>
              <a:t>Linux/POSIX system calls.</a:t>
            </a:r>
          </a:p>
          <a:p>
            <a:pPr>
              <a:spcAft>
                <a:spcPts val="1000"/>
              </a:spcAft>
              <a:defRPr sz="2100">
                <a:solidFill>
                  <a:srgbClr val="F8FAFF"/>
                </a:solidFill>
              </a:defRPr>
            </a:pPr>
            <a:r>
              <a:t>File descriptors.</a:t>
            </a:r>
          </a:p>
          <a:p>
            <a:pPr>
              <a:spcAft>
                <a:spcPts val="1000"/>
              </a:spcAft>
              <a:defRPr sz="2100">
                <a:solidFill>
                  <a:srgbClr val="F8FAFF"/>
                </a:solidFill>
              </a:defRPr>
            </a:pPr>
            <a:r>
              <a:t>Practical Operating Systems concepts.</a:t>
            </a:r>
          </a:p>
        </p:txBody>
      </p:sp>
      <p:sp>
        <p:nvSpPr>
          <p:cNvPr id="9" name="TextBox 8"/>
          <p:cNvSpPr txBox="1"/>
          <p:nvPr/>
        </p:nvSpPr>
        <p:spPr>
          <a:xfrm>
            <a:off x="10789920" y="6400800"/>
            <a:ext cx="640080" cy="274320"/>
          </a:xfrm>
          <a:prstGeom prst="rect">
            <a:avLst/>
          </a:prstGeom>
          <a:noFill/>
        </p:spPr>
        <p:txBody>
          <a:bodyPr wrap="none">
            <a:spAutoFit/>
          </a:bodyPr>
          <a:lstStyle/>
          <a:p>
            <a:pPr algn="r">
              <a:defRPr sz="1100">
                <a:solidFill>
                  <a:srgbClr val="B9CADC"/>
                </a:solidFill>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223"/>
        </a:solidFill>
        <a:effectLst/>
      </p:bgPr>
    </p:bg>
    <p:spTree>
      <p:nvGrpSpPr>
        <p:cNvPr id="1" name=""/>
        <p:cNvGrpSpPr/>
        <p:nvPr/>
      </p:nvGrpSpPr>
      <p:grpSpPr>
        <a:xfrm>
          <a:off x="0" y="0"/>
          <a:ext cx="0" cy="0"/>
          <a:chOff x="0" y="0"/>
          <a:chExt cx="0" cy="0"/>
        </a:xfrm>
      </p:grpSpPr>
      <p:sp>
        <p:nvSpPr>
          <p:cNvPr id="2" name="Oval 1"/>
          <p:cNvSpPr/>
          <p:nvPr/>
        </p:nvSpPr>
        <p:spPr>
          <a:xfrm>
            <a:off x="10698480" y="-457200"/>
            <a:ext cx="2194560" cy="2194560"/>
          </a:xfrm>
          <a:prstGeom prst="ellipse">
            <a:avLst/>
          </a:prstGeom>
          <a:solidFill>
            <a:srgbClr val="91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669280"/>
            <a:ext cx="1920240" cy="192024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486400"/>
            <a:ext cx="1554480" cy="15544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37360"/>
            <a:ext cx="10332720" cy="3200400"/>
          </a:xfrm>
          <a:prstGeom prst="rect">
            <a:avLst/>
          </a:prstGeom>
          <a:noFill/>
        </p:spPr>
        <p:txBody>
          <a:bodyPr wrap="none">
            <a:spAutoFit/>
          </a:bodyPr>
          <a:lstStyle/>
          <a:p>
            <a:pPr algn="ctr">
              <a:defRPr sz="5200" b="1">
                <a:solidFill>
                  <a:srgbClr val="F8FAFF"/>
                </a:solidFill>
              </a:defRPr>
            </a:pPr>
            <a:r>
              <a:t>THANK YOU</a:t>
            </a:r>
          </a:p>
          <a:p>
            <a:pPr algn="ctr">
              <a:defRPr sz="2600">
                <a:solidFill>
                  <a:srgbClr val="00D2FF"/>
                </a:solidFill>
              </a:defRPr>
            </a:pPr>
            <a:r>
              <a:t>Questions &amp; Discussion</a:t>
            </a:r>
          </a:p>
          <a:p>
            <a:br/>
            <a:r>
              <a:t>🔒  Protect  •  Control  •  Understand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TotalTime>
  <Words>456</Words>
  <Application>Microsoft Office PowerPoint</Application>
  <PresentationFormat>Widescreen</PresentationFormat>
  <Paragraphs>107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Revanth Prabandala</cp:lastModifiedBy>
  <cp:revision>4</cp:revision>
  <dcterms:created xsi:type="dcterms:W3CDTF">2013-01-27T09:14:16Z</dcterms:created>
  <dcterms:modified xsi:type="dcterms:W3CDTF">2026-09-02T06:07:54Z</dcterms:modified>
  <cp:category/>
</cp:coreProperties>
</file>